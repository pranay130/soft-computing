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32D6BE-F132-41C8-AB9B-97EC18FC3A76}" type="datetimeFigureOut">
              <a:rPr lang="en-US" smtClean="0"/>
              <a:t>2/15/2024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83E540-9447-4FC8-BC59-16BED09F0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237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F4C35-4AC5-4D86-8BDC-475422738DA0}" type="datetime1">
              <a:rPr lang="en-US" smtClean="0"/>
              <a:t>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Arpita Dutta, Assistant Professor, CSE AI &amp; ML, Techno Main Saltlake, Kolkata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189A8-F23C-4C2B-9B7D-BC4186FCE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700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167FD-3849-4886-84A6-E7F248DA7147}" type="datetime1">
              <a:rPr lang="en-US" smtClean="0"/>
              <a:t>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Arpita Dutta, Assistant Professor, CSE AI &amp; ML, Techno Main Saltlake, Kolkata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189A8-F23C-4C2B-9B7D-BC4186FCE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905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BA9EF-CFFD-4294-A002-69A0AEC01B14}" type="datetime1">
              <a:rPr lang="en-US" smtClean="0"/>
              <a:t>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Arpita Dutta, Assistant Professor, CSE AI &amp; ML, Techno Main Saltlake, Kolkata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189A8-F23C-4C2B-9B7D-BC4186FCE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472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F86E2-A880-49B7-B787-CDFC6293ECA6}" type="datetime1">
              <a:rPr lang="en-US" smtClean="0"/>
              <a:t>2/15/2024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Arpita Dutta, Assistant Professor, CSE AI &amp; ML, Techno Main Saltlake, Kolkata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189A8-F23C-4C2B-9B7D-BC4186FCE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779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B6FE8-2F06-4F92-A5B1-4AACECCDFBD7}" type="datetime1">
              <a:rPr lang="en-US" smtClean="0"/>
              <a:t>2/15/2024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Arpita Dutta, Assistant Professor, CSE AI &amp; ML, Techno Main Saltlake, Kolkata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189A8-F23C-4C2B-9B7D-BC4186FCE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568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BF334-402D-4AB9-B63E-A3724E3607D7}" type="datetime1">
              <a:rPr lang="en-US" smtClean="0"/>
              <a:t>2/15/2024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Arpita Dutta, Assistant Professor, CSE AI &amp; ML, Techno Main Saltlake, Kolkata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189A8-F23C-4C2B-9B7D-BC4186FCE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09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37F49-02F7-4187-A195-7A82C9205738}" type="datetime1">
              <a:rPr lang="en-US" smtClean="0"/>
              <a:t>2/15/2024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Arpita Dutta, Assistant Professor, CSE AI &amp; ML, Techno Main Saltlake, Kolkata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189A8-F23C-4C2B-9B7D-BC4186FCE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81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4981C-25C0-4BC6-B796-9CD23A36E915}" type="datetime1">
              <a:rPr lang="en-US" smtClean="0"/>
              <a:t>2/15/2024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Arpita Dutta, Assistant Professor, CSE AI &amp; ML, Techno Main Saltlake, Kolkata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189A8-F23C-4C2B-9B7D-BC4186FCE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366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Arpita Dutta, Assistant Professor, CSE AI &amp; ML, Techno Main Saltlake, Kolkata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189A8-F23C-4C2B-9B7D-BC4186FCEF6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2204A-D31C-4C48-BA6A-0818C18EC28C}" type="datetime1">
              <a:rPr lang="en-US" smtClean="0"/>
              <a:t>2/15/2024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747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395B1-9436-4012-9EB7-C4BD4018B9DD}" type="datetime1">
              <a:rPr lang="en-US" smtClean="0"/>
              <a:t>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Arpita Dutta, Assistant Professor, CSE AI &amp; ML, Techno Main Saltlake, Kolkata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189A8-F23C-4C2B-9B7D-BC4186FCE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324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D45EE-F3EA-47E2-8087-FD275313FCAE}" type="datetime1">
              <a:rPr lang="en-US" smtClean="0"/>
              <a:t>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Arpita Dutta, Assistant Professor, CSE AI &amp; ML, Techno Main Saltlake, Kolkata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189A8-F23C-4C2B-9B7D-BC4186FCEF68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857478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8864E-9503-43B0-AEC3-31A868D10EE6}" type="datetime1">
              <a:rPr lang="en-US" smtClean="0"/>
              <a:t>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Arpita Dutta, Assistant Professor, CSE AI &amp; ML, Techno Main Saltlake, Kolkata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189A8-F23C-4C2B-9B7D-BC4186FCE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1873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013ED-DEC5-436B-8AD9-5C082083DAF4}" type="datetime1">
              <a:rPr lang="en-US" smtClean="0"/>
              <a:t>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Arpita Dutta, Assistant Professor, CSE AI &amp; ML, Techno Main Saltlake, Kolkata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189A8-F23C-4C2B-9B7D-BC4186FCEF68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883909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BAFDD-5295-4E90-A469-9FBD1F0350B3}" type="datetime1">
              <a:rPr lang="en-US" smtClean="0"/>
              <a:t>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Arpita Dutta, Assistant Professor, CSE AI &amp; ML, Techno Main Saltlake, Kolkata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189A8-F23C-4C2B-9B7D-BC4186FCE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0145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3D76A-57A8-444D-88EF-02EAD7C14497}" type="datetime1">
              <a:rPr lang="en-US" smtClean="0"/>
              <a:t>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Arpita Dutta, Assistant Professor, CSE AI &amp; ML, Techno Main Saltlake, Kolkata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189A8-F23C-4C2B-9B7D-BC4186FCE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0443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0EE2F-0497-46D6-998F-EB70CFDC6D40}" type="datetime1">
              <a:rPr lang="en-US" smtClean="0"/>
              <a:t>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Arpita Dutta, Assistant Professor, CSE AI &amp; ML, Techno Main Saltlake, Kolkata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189A8-F23C-4C2B-9B7D-BC4186FCE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151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C7504D-1E10-4510-89F0-D7C4B35540CA}" type="datetime1">
              <a:rPr lang="en-US" smtClean="0"/>
              <a:t>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Dr. Arpita Dutta, Assistant Professor, CSE AI &amp; ML, Techno Main Saltlake, Kolkata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60189A8-F23C-4C2B-9B7D-BC4186FCE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623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Introduction to Soft Computing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algn="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Dr.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Arpita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Dutta</a:t>
            </a:r>
          </a:p>
          <a:p>
            <a:pPr algn="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algn="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CSE – AI &amp; ML</a:t>
            </a:r>
          </a:p>
          <a:p>
            <a:pPr algn="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Techno Main Salt Lake, Kolkata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Arpita Dutta, Assistant Professor, CSE AI &amp; ML, Techno Main Saltlake, Kolkata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817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Soft Computing : Definition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Soft Computing is an emerging approach to computing which </a:t>
            </a:r>
            <a:r>
              <a:rPr lang="en-US" dirty="0" smtClean="0"/>
              <a:t>parallel the </a:t>
            </a:r>
            <a:r>
              <a:rPr lang="en-US" dirty="0"/>
              <a:t>remarkable ability of the human mind to reason and learn in a environment of </a:t>
            </a:r>
            <a:r>
              <a:rPr lang="en-US" dirty="0" smtClean="0"/>
              <a:t>uncertainty and imprecision (</a:t>
            </a:r>
            <a:r>
              <a:rPr lang="en-US" dirty="0" err="1"/>
              <a:t>Lotfi</a:t>
            </a:r>
            <a:r>
              <a:rPr lang="en-US" dirty="0"/>
              <a:t> A. </a:t>
            </a:r>
            <a:r>
              <a:rPr lang="en-US" dirty="0" err="1"/>
              <a:t>Zadeh</a:t>
            </a:r>
            <a:r>
              <a:rPr lang="en-US" dirty="0"/>
              <a:t>, 1992</a:t>
            </a:r>
            <a:r>
              <a:rPr lang="en-US" dirty="0" smtClean="0"/>
              <a:t>). </a:t>
            </a:r>
          </a:p>
          <a:p>
            <a:r>
              <a:rPr lang="en-US" dirty="0"/>
              <a:t>It refers to a group of computational techniques that are based on artificial intelligence (AI) and natural selection. </a:t>
            </a:r>
            <a:endParaRPr lang="en-US" dirty="0" smtClean="0"/>
          </a:p>
          <a:p>
            <a:r>
              <a:rPr lang="en-US" dirty="0"/>
              <a:t>It provides cost-effective solutions to the complex real-life problems for which hard computing solution does not exist</a:t>
            </a:r>
            <a:r>
              <a:rPr lang="en-US" dirty="0" smtClean="0"/>
              <a:t>.</a:t>
            </a:r>
          </a:p>
          <a:p>
            <a:r>
              <a:rPr lang="en-US" dirty="0"/>
              <a:t>The objective of soft computing is to provide precise approximation and quick solutions for complex </a:t>
            </a:r>
            <a:r>
              <a:rPr lang="en-US" dirty="0" err="1"/>
              <a:t>reallife</a:t>
            </a:r>
            <a:r>
              <a:rPr lang="en-US"/>
              <a:t> problems.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Arpita Dutta, Assistant Professor, CSE AI &amp; ML, Techno Main Saltlake, Kolkata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363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6605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Fuzzy Logic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1306287"/>
            <a:ext cx="11157615" cy="4735075"/>
          </a:xfrm>
        </p:spPr>
        <p:txBody>
          <a:bodyPr/>
          <a:lstStyle/>
          <a:p>
            <a:r>
              <a:rPr lang="en-US" dirty="0"/>
              <a:t>The father of fuzzy logic is </a:t>
            </a:r>
            <a:r>
              <a:rPr lang="en-US" dirty="0" err="1"/>
              <a:t>Lotfi</a:t>
            </a:r>
            <a:r>
              <a:rPr lang="en-US" dirty="0"/>
              <a:t> </a:t>
            </a:r>
            <a:r>
              <a:rPr lang="en-US" dirty="0" err="1"/>
              <a:t>Zadeh</a:t>
            </a:r>
            <a:r>
              <a:rPr lang="en-US" dirty="0"/>
              <a:t> who is still there, proposed in 1965. Fuzzy logic </a:t>
            </a:r>
            <a:r>
              <a:rPr lang="en-US" dirty="0" smtClean="0"/>
              <a:t>can manipulate </a:t>
            </a:r>
            <a:r>
              <a:rPr lang="en-US" dirty="0"/>
              <a:t>those kinds of data which are imprecise</a:t>
            </a:r>
            <a:r>
              <a:rPr lang="en-US" dirty="0" smtClean="0"/>
              <a:t>.</a:t>
            </a:r>
          </a:p>
          <a:p>
            <a:r>
              <a:rPr lang="en-US" dirty="0"/>
              <a:t>The word fuzzy means that, </a:t>
            </a:r>
            <a:r>
              <a:rPr lang="en-US" dirty="0" smtClean="0"/>
              <a:t>in general </a:t>
            </a:r>
            <a:r>
              <a:rPr lang="en-US" dirty="0"/>
              <a:t>sense when we talk about the real world, our expression of the real world, the way </a:t>
            </a:r>
            <a:r>
              <a:rPr lang="en-US" dirty="0" smtClean="0"/>
              <a:t>we quantify </a:t>
            </a:r>
            <a:r>
              <a:rPr lang="en-US" dirty="0"/>
              <a:t>the real world, the way we describe the real world, are not very precise</a:t>
            </a:r>
            <a:r>
              <a:rPr lang="en-US" dirty="0" smtClean="0"/>
              <a:t>.</a:t>
            </a:r>
          </a:p>
          <a:p>
            <a:r>
              <a:rPr lang="en-US" dirty="0" smtClean="0"/>
              <a:t>Example : </a:t>
            </a:r>
            <a:r>
              <a:rPr lang="en-US" dirty="0"/>
              <a:t>what the temperature is </a:t>
            </a:r>
            <a:r>
              <a:rPr lang="en-US" dirty="0" smtClean="0"/>
              <a:t>today?</a:t>
            </a:r>
            <a:r>
              <a:rPr lang="en-US" dirty="0"/>
              <a:t> </a:t>
            </a:r>
            <a:r>
              <a:rPr lang="en-US" dirty="0" smtClean="0"/>
              <a:t>The </a:t>
            </a:r>
            <a:r>
              <a:rPr lang="en-US" dirty="0"/>
              <a:t>normal answer people would give is, today it is very hot or hot or cool. Our </a:t>
            </a:r>
            <a:r>
              <a:rPr lang="en-US" dirty="0" smtClean="0"/>
              <a:t>expression about </a:t>
            </a:r>
            <a:r>
              <a:rPr lang="en-US" dirty="0"/>
              <a:t>the world around us is always not precise. Not to be precise is exactly what is fuzzy</a:t>
            </a:r>
            <a:r>
              <a:rPr lang="en-US" dirty="0" smtClean="0"/>
              <a:t>.</a:t>
            </a:r>
          </a:p>
          <a:p>
            <a:r>
              <a:rPr lang="en-US" dirty="0" smtClean="0"/>
              <a:t>Since </a:t>
            </a:r>
            <a:r>
              <a:rPr lang="en-US" dirty="0"/>
              <a:t>we deal with our world with </a:t>
            </a:r>
            <a:r>
              <a:rPr lang="en-US" dirty="0" smtClean="0"/>
              <a:t>this imprecise </a:t>
            </a:r>
            <a:r>
              <a:rPr lang="en-US" dirty="0"/>
              <a:t>way, naturally, the computation that involves the logic of impreciseness is </a:t>
            </a:r>
            <a:r>
              <a:rPr lang="en-US" dirty="0" smtClean="0"/>
              <a:t>much more </a:t>
            </a:r>
            <a:r>
              <a:rPr lang="en-US" dirty="0"/>
              <a:t>powerful than the computation that is being carried through a precise manner, or </a:t>
            </a:r>
            <a:r>
              <a:rPr lang="en-US" dirty="0" smtClean="0"/>
              <a:t>rather precision </a:t>
            </a:r>
            <a:r>
              <a:rPr lang="en-US" dirty="0"/>
              <a:t>logic based computation is inferior; not always, but in many applications, they </a:t>
            </a:r>
            <a:r>
              <a:rPr lang="en-US" dirty="0" smtClean="0"/>
              <a:t>are very </a:t>
            </a:r>
            <a:r>
              <a:rPr lang="en-US" dirty="0"/>
              <a:t>inferior in terms of technological application in our day to day benefits, the normal way.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Arpita Dutta, Assistant Professor, CSE AI &amp; ML, Techno Main Saltlake, Kolkata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805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776" y="496389"/>
            <a:ext cx="8281225" cy="53557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Fuzzy Sets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4035" y="1249527"/>
            <a:ext cx="9392194" cy="1019371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Dr. </a:t>
            </a:r>
            <a:r>
              <a:rPr lang="en-US" dirty="0" err="1" smtClean="0"/>
              <a:t>Arpita</a:t>
            </a:r>
            <a:r>
              <a:rPr lang="en-US" dirty="0" smtClean="0"/>
              <a:t> Dutta, Assistant Professor, CSE AI &amp; ML, Techno Main </a:t>
            </a:r>
            <a:r>
              <a:rPr lang="en-US" dirty="0" err="1" smtClean="0"/>
              <a:t>Saltlake</a:t>
            </a:r>
            <a:r>
              <a:rPr lang="en-US" dirty="0" smtClean="0"/>
              <a:t>, Kolkata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99" y="2167967"/>
            <a:ext cx="7876902" cy="305109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25698" y="5445545"/>
            <a:ext cx="7419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Difference in Fuzzy and crisp boundary</a:t>
            </a:r>
          </a:p>
        </p:txBody>
      </p:sp>
    </p:spTree>
    <p:extLst>
      <p:ext uri="{BB962C8B-B14F-4D97-AF65-F5344CB8AC3E}">
        <p14:creationId xmlns:p14="http://schemas.microsoft.com/office/powerpoint/2010/main" val="1717068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9897" y="609600"/>
            <a:ext cx="9522823" cy="52686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Sets: classical &amp; fuzzy boundary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Arpita Dutta, Assistant Professor, CSE AI &amp; ML, Techno Main Saltlake, Kolkata</a:t>
            </a:r>
            <a:endParaRPr lang="en-US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3498" y="1240973"/>
            <a:ext cx="7422125" cy="2766881"/>
          </a:xfrm>
        </p:spPr>
      </p:pic>
      <p:sp>
        <p:nvSpPr>
          <p:cNvPr id="11" name="TextBox 10"/>
          <p:cNvSpPr txBox="1"/>
          <p:nvPr/>
        </p:nvSpPr>
        <p:spPr>
          <a:xfrm>
            <a:off x="809897" y="4112358"/>
            <a:ext cx="1075073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Set: </a:t>
            </a:r>
            <a:r>
              <a:rPr lang="en-US" dirty="0"/>
              <a:t>A collection of objects having one or more common characteristics. For example, set </a:t>
            </a:r>
            <a:r>
              <a:rPr lang="en-US" dirty="0" smtClean="0"/>
              <a:t>of natural </a:t>
            </a:r>
            <a:r>
              <a:rPr lang="en-US" dirty="0"/>
              <a:t>number, set of real numbers, members, or elements. Objects belonging to a set </a:t>
            </a:r>
            <a:r>
              <a:rPr lang="en-US" dirty="0" smtClean="0"/>
              <a:t>is represented </a:t>
            </a:r>
            <a:r>
              <a:rPr lang="en-US" dirty="0"/>
              <a:t>as x belonging to A, where A is a set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b="1" dirty="0"/>
              <a:t>Universe of Discourse</a:t>
            </a:r>
            <a:r>
              <a:rPr lang="en-US" b="1" dirty="0" smtClean="0"/>
              <a:t>: </a:t>
            </a:r>
            <a:r>
              <a:rPr lang="en-US" dirty="0"/>
              <a:t>Defined as “a collection of objects all having the same characteristics</a:t>
            </a:r>
            <a:r>
              <a:rPr lang="en-US" dirty="0" smtClean="0"/>
              <a:t>”.</a:t>
            </a:r>
          </a:p>
          <a:p>
            <a:r>
              <a:rPr lang="en-US" dirty="0"/>
              <a:t>Notation: U or X, and elements in the universe of discourse are: u or x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5741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583474"/>
            <a:ext cx="8268162" cy="51380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Membership 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280161"/>
            <a:ext cx="11118426" cy="4761202"/>
          </a:xfrm>
        </p:spPr>
        <p:txBody>
          <a:bodyPr/>
          <a:lstStyle/>
          <a:p>
            <a:r>
              <a:rPr lang="en-US" dirty="0"/>
              <a:t>A</a:t>
            </a:r>
            <a:r>
              <a:rPr lang="en-US" dirty="0" smtClean="0"/>
              <a:t> </a:t>
            </a:r>
            <a:r>
              <a:rPr lang="en-US" dirty="0"/>
              <a:t>membership function </a:t>
            </a:r>
            <a:r>
              <a:rPr lang="en-US" dirty="0" err="1" smtClean="0"/>
              <a:t>μ</a:t>
            </a:r>
            <a:r>
              <a:rPr lang="en-US" sz="1050" dirty="0" err="1" smtClean="0"/>
              <a:t>A</a:t>
            </a:r>
            <a:r>
              <a:rPr lang="en-US" dirty="0" smtClean="0"/>
              <a:t>(x) </a:t>
            </a:r>
            <a:r>
              <a:rPr lang="en-US" dirty="0"/>
              <a:t>is characterized by </a:t>
            </a:r>
            <a:r>
              <a:rPr lang="en-US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μ</a:t>
            </a:r>
            <a:r>
              <a:rPr lang="en-US" sz="105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A</a:t>
            </a:r>
            <a:r>
              <a:rPr lang="en-US" dirty="0" smtClean="0"/>
              <a:t> </a:t>
            </a:r>
            <a:r>
              <a:rPr lang="en-US" dirty="0"/>
              <a:t>that maps </a:t>
            </a:r>
            <a:r>
              <a:rPr lang="en-US" dirty="0" smtClean="0"/>
              <a:t>all the </a:t>
            </a:r>
            <a:r>
              <a:rPr lang="en-US" dirty="0"/>
              <a:t>members in set x to a number between 0 to 1, where x is a real number describing </a:t>
            </a:r>
            <a:r>
              <a:rPr lang="en-US" dirty="0" smtClean="0"/>
              <a:t>an object </a:t>
            </a:r>
            <a:r>
              <a:rPr lang="en-US" dirty="0"/>
              <a:t>or its </a:t>
            </a:r>
            <a:r>
              <a:rPr lang="en-US" dirty="0" smtClean="0"/>
              <a:t>attribute, </a:t>
            </a:r>
            <a:r>
              <a:rPr lang="en-US" dirty="0"/>
              <a:t>X is the universe of discourse and A is a subset of X</a:t>
            </a:r>
            <a:r>
              <a:rPr lang="en-US" dirty="0" smtClean="0"/>
              <a:t>.</a:t>
            </a:r>
          </a:p>
          <a:p>
            <a:r>
              <a:rPr lang="en-US" dirty="0" smtClean="0"/>
              <a:t>Example : </a:t>
            </a:r>
            <a:r>
              <a:rPr lang="en-US" dirty="0"/>
              <a:t>Fuzzy Sets with Discrete </a:t>
            </a:r>
            <a:r>
              <a:rPr lang="en-US" dirty="0" smtClean="0"/>
              <a:t>Universes, Fuzzy </a:t>
            </a:r>
            <a:r>
              <a:rPr lang="en-US" dirty="0"/>
              <a:t>set A = “sensible number of children”</a:t>
            </a:r>
          </a:p>
          <a:p>
            <a:r>
              <a:rPr lang="en-US" dirty="0"/>
              <a:t>X = {0, 1, 2, 3, 4, 5, 6} (discrete </a:t>
            </a:r>
            <a:r>
              <a:rPr lang="en-US" dirty="0" smtClean="0"/>
              <a:t>universe) A </a:t>
            </a:r>
            <a:r>
              <a:rPr lang="en-US" dirty="0"/>
              <a:t>= {(0, .1), (1, .3), (2, .7), (3, 1), (4, .6), (5, .2), (6, .</a:t>
            </a:r>
            <a:r>
              <a:rPr lang="en-US" dirty="0" smtClean="0"/>
              <a:t>1)}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Arpita Dutta, Assistant Professor, CSE AI &amp; ML, Techno Main Saltlake, Kolkata</a:t>
            </a: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970" y="3186238"/>
            <a:ext cx="3735976" cy="285512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125" y="3902598"/>
            <a:ext cx="2766150" cy="463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871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210" y="609600"/>
            <a:ext cx="10123716" cy="61830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Membership 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5210" y="1227908"/>
            <a:ext cx="10998927" cy="5016137"/>
          </a:xfrm>
        </p:spPr>
        <p:txBody>
          <a:bodyPr/>
          <a:lstStyle/>
          <a:p>
            <a:r>
              <a:rPr lang="en-US" dirty="0" smtClean="0"/>
              <a:t>Fuzzy Set with continuous universe</a:t>
            </a:r>
          </a:p>
          <a:p>
            <a:r>
              <a:rPr lang="en-US" dirty="0"/>
              <a:t>Fuzzy set B = “about 50 years </a:t>
            </a:r>
            <a:r>
              <a:rPr lang="en-US" dirty="0" smtClean="0"/>
              <a:t>old” X </a:t>
            </a:r>
            <a:r>
              <a:rPr lang="en-US" dirty="0"/>
              <a:t>= Set of positive real numbers (</a:t>
            </a:r>
            <a:r>
              <a:rPr lang="en-US" dirty="0" smtClean="0"/>
              <a:t>continuous), B </a:t>
            </a:r>
            <a:r>
              <a:rPr lang="en-US" dirty="0"/>
              <a:t>= {(x, </a:t>
            </a:r>
            <a:r>
              <a:rPr lang="en-US" dirty="0" err="1" smtClean="0"/>
              <a:t>μ</a:t>
            </a:r>
            <a:r>
              <a:rPr lang="en-US" sz="1050" dirty="0" err="1" smtClean="0"/>
              <a:t>B</a:t>
            </a:r>
            <a:r>
              <a:rPr lang="en-US" dirty="0" smtClean="0"/>
              <a:t>(x)) | </a:t>
            </a:r>
            <a:r>
              <a:rPr lang="en-US" dirty="0"/>
              <a:t>x in </a:t>
            </a:r>
            <a:r>
              <a:rPr lang="en-US" dirty="0" smtClean="0"/>
              <a:t>X}, </a:t>
            </a:r>
            <a:r>
              <a:rPr lang="en-US" dirty="0" err="1"/>
              <a:t>μ</a:t>
            </a:r>
            <a:r>
              <a:rPr lang="en-US" sz="1050" dirty="0" err="1"/>
              <a:t>B</a:t>
            </a:r>
            <a:r>
              <a:rPr lang="en-US" dirty="0"/>
              <a:t>(x</a:t>
            </a:r>
            <a:r>
              <a:rPr lang="en-US" dirty="0" smtClean="0"/>
              <a:t>) = f(x</a:t>
            </a:r>
            <a:r>
              <a:rPr lang="en-US" dirty="0"/>
              <a:t>)</a:t>
            </a:r>
            <a:r>
              <a:rPr lang="en-US" dirty="0" smtClean="0"/>
              <a:t> 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Arpita Dutta, Assistant Professor, CSE AI &amp; ML, Techno Main Saltlake, Kolkata</a:t>
            </a: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873" y="2506914"/>
            <a:ext cx="2506823" cy="8193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2925" y="2506914"/>
            <a:ext cx="4494993" cy="33745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88720" y="3735976"/>
            <a:ext cx="289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</a:t>
            </a:r>
            <a:r>
              <a:rPr lang="en-US" dirty="0"/>
              <a:t>function </a:t>
            </a:r>
            <a:r>
              <a:rPr lang="en-US" dirty="0" smtClean="0"/>
              <a:t>is </a:t>
            </a:r>
            <a:r>
              <a:rPr lang="en-US" dirty="0"/>
              <a:t>subjective</a:t>
            </a:r>
          </a:p>
        </p:txBody>
      </p:sp>
    </p:spTree>
    <p:extLst>
      <p:ext uri="{BB962C8B-B14F-4D97-AF65-F5344CB8AC3E}">
        <p14:creationId xmlns:p14="http://schemas.microsoft.com/office/powerpoint/2010/main" val="3635045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609600"/>
            <a:ext cx="9757954" cy="59218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Membership Function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0019" y="1632488"/>
            <a:ext cx="8881443" cy="999469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Arpita Dutta, Assistant Professor, CSE AI &amp; ML, Techno Main Saltlake, Kolkata</a:t>
            </a:r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0900" y="2945723"/>
            <a:ext cx="7906792" cy="16654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60769" y="4794069"/>
            <a:ext cx="110309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Linguistic variable and linguistic values:</a:t>
            </a:r>
          </a:p>
          <a:p>
            <a:r>
              <a:rPr lang="en-US" dirty="0"/>
              <a:t>Linguistic variable is a variable expressed in linguistic terms e.g. “Age” that assumes </a:t>
            </a:r>
            <a:r>
              <a:rPr lang="en-US" dirty="0" smtClean="0"/>
              <a:t>various linguistic </a:t>
            </a:r>
            <a:r>
              <a:rPr lang="en-US" dirty="0"/>
              <a:t>values like :</a:t>
            </a:r>
            <a:r>
              <a:rPr lang="en-US" dirty="0" err="1"/>
              <a:t>middleaged</a:t>
            </a:r>
            <a:r>
              <a:rPr lang="en-US" dirty="0"/>
              <a:t>, young, old. The linguistic variables are characterized </a:t>
            </a:r>
            <a:r>
              <a:rPr lang="en-US" dirty="0" smtClean="0"/>
              <a:t>by membership </a:t>
            </a:r>
            <a:r>
              <a:rPr lang="en-US" dirty="0"/>
              <a:t>functions.</a:t>
            </a:r>
          </a:p>
        </p:txBody>
      </p:sp>
    </p:spTree>
    <p:extLst>
      <p:ext uri="{BB962C8B-B14F-4D97-AF65-F5344CB8AC3E}">
        <p14:creationId xmlns:p14="http://schemas.microsoft.com/office/powerpoint/2010/main" val="3131860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1830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Membership Functions : 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463" y="1449977"/>
            <a:ext cx="10241280" cy="4591385"/>
          </a:xfrm>
        </p:spPr>
        <p:txBody>
          <a:bodyPr/>
          <a:lstStyle/>
          <a:p>
            <a:r>
              <a:rPr lang="en-US" b="1" dirty="0"/>
              <a:t>Support:</a:t>
            </a:r>
          </a:p>
          <a:p>
            <a:pPr marL="0" indent="0">
              <a:buNone/>
            </a:pPr>
            <a:r>
              <a:rPr lang="en-US" dirty="0" smtClean="0"/>
              <a:t>     Support </a:t>
            </a:r>
            <a:r>
              <a:rPr lang="en-US" dirty="0"/>
              <a:t>of a fuzzy set A is the set of all points x in X such that </a:t>
            </a:r>
            <a:r>
              <a:rPr lang="en-US" dirty="0" err="1"/>
              <a:t>μ</a:t>
            </a:r>
            <a:r>
              <a:rPr lang="en-US" sz="1050" dirty="0" err="1"/>
              <a:t>A</a:t>
            </a:r>
            <a:r>
              <a:rPr lang="en-US" dirty="0"/>
              <a:t>(x) </a:t>
            </a:r>
            <a:r>
              <a:rPr lang="en-US" dirty="0" smtClean="0"/>
              <a:t>&gt; 0.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Support </a:t>
            </a:r>
            <a:r>
              <a:rPr lang="en-US" dirty="0"/>
              <a:t>(A</a:t>
            </a:r>
            <a:r>
              <a:rPr lang="en-US" dirty="0" smtClean="0"/>
              <a:t>) = </a:t>
            </a:r>
            <a:r>
              <a:rPr lang="en-US" dirty="0"/>
              <a:t>{x| </a:t>
            </a:r>
            <a:r>
              <a:rPr lang="en-US" dirty="0" err="1" smtClean="0"/>
              <a:t>μ</a:t>
            </a:r>
            <a:r>
              <a:rPr lang="en-US" sz="1050" dirty="0" err="1" smtClean="0"/>
              <a:t>A</a:t>
            </a:r>
            <a:r>
              <a:rPr lang="en-US" dirty="0" smtClean="0"/>
              <a:t>(x) &gt; 0}</a:t>
            </a:r>
          </a:p>
          <a:p>
            <a:endParaRPr lang="en-US" dirty="0"/>
          </a:p>
          <a:p>
            <a:r>
              <a:rPr lang="en-US" b="1" dirty="0"/>
              <a:t>Core:</a:t>
            </a:r>
          </a:p>
          <a:p>
            <a:pPr marL="0" indent="0">
              <a:buNone/>
            </a:pPr>
            <a:r>
              <a:rPr lang="en-US" dirty="0" smtClean="0"/>
              <a:t>     The </a:t>
            </a:r>
            <a:r>
              <a:rPr lang="en-US" dirty="0"/>
              <a:t>C</a:t>
            </a:r>
            <a:r>
              <a:rPr lang="en-US" dirty="0" smtClean="0"/>
              <a:t>ore </a:t>
            </a:r>
            <a:r>
              <a:rPr lang="en-US" dirty="0"/>
              <a:t>of a fuzzy set A is the set of all </a:t>
            </a:r>
            <a:r>
              <a:rPr lang="en-US" dirty="0" err="1"/>
              <a:t>poits</a:t>
            </a:r>
            <a:r>
              <a:rPr lang="en-US" dirty="0"/>
              <a:t> x in X such that </a:t>
            </a:r>
            <a:r>
              <a:rPr lang="en-US" dirty="0" err="1"/>
              <a:t>μ</a:t>
            </a:r>
            <a:r>
              <a:rPr lang="en-US" sz="1050" dirty="0" err="1"/>
              <a:t>A</a:t>
            </a:r>
            <a:r>
              <a:rPr lang="en-US" dirty="0"/>
              <a:t>(x) </a:t>
            </a:r>
            <a:r>
              <a:rPr lang="en-US" dirty="0" smtClean="0"/>
              <a:t>= 1</a:t>
            </a:r>
            <a:endParaRPr lang="en-US" dirty="0"/>
          </a:p>
          <a:p>
            <a:pPr marL="0" indent="0">
              <a:buNone/>
            </a:pPr>
            <a:r>
              <a:rPr lang="it-IT" dirty="0" smtClean="0"/>
              <a:t>     Core </a:t>
            </a:r>
            <a:r>
              <a:rPr lang="it-IT" dirty="0"/>
              <a:t>(A</a:t>
            </a:r>
            <a:r>
              <a:rPr lang="it-IT" dirty="0" smtClean="0"/>
              <a:t>) = </a:t>
            </a:r>
            <a:r>
              <a:rPr lang="it-IT" dirty="0"/>
              <a:t>{x| </a:t>
            </a:r>
            <a:r>
              <a:rPr lang="en-US" dirty="0" err="1"/>
              <a:t>μ</a:t>
            </a:r>
            <a:r>
              <a:rPr lang="en-US" sz="1050" dirty="0" err="1"/>
              <a:t>A</a:t>
            </a:r>
            <a:r>
              <a:rPr lang="en-US" dirty="0"/>
              <a:t>(x) </a:t>
            </a:r>
            <a:r>
              <a:rPr lang="it-IT" dirty="0" smtClean="0"/>
              <a:t>=</a:t>
            </a:r>
            <a:r>
              <a:rPr lang="it-IT" dirty="0"/>
              <a:t>1</a:t>
            </a:r>
            <a:r>
              <a:rPr lang="it-IT" dirty="0" smtClean="0"/>
              <a:t>}</a:t>
            </a:r>
          </a:p>
          <a:p>
            <a:pPr marL="0" indent="0">
              <a:buNone/>
            </a:pPr>
            <a:endParaRPr lang="it-IT" dirty="0"/>
          </a:p>
          <a:p>
            <a:r>
              <a:rPr lang="en-US" b="1" dirty="0"/>
              <a:t>Normality:</a:t>
            </a:r>
          </a:p>
          <a:p>
            <a:pPr marL="0" indent="0">
              <a:buNone/>
            </a:pPr>
            <a:r>
              <a:rPr lang="en-US" dirty="0" smtClean="0"/>
              <a:t>     A </a:t>
            </a:r>
            <a:r>
              <a:rPr lang="en-US" dirty="0"/>
              <a:t>fuzzy set A is normal if its core is nonempty. Always there is at least one x with </a:t>
            </a:r>
            <a:r>
              <a:rPr lang="en-US" dirty="0" err="1"/>
              <a:t>μ</a:t>
            </a:r>
            <a:r>
              <a:rPr lang="en-US" sz="1050" dirty="0" err="1"/>
              <a:t>A</a:t>
            </a:r>
            <a:r>
              <a:rPr lang="en-US" dirty="0"/>
              <a:t>(x) </a:t>
            </a:r>
            <a:r>
              <a:rPr lang="en-US" dirty="0" smtClean="0"/>
              <a:t>= 1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     then </a:t>
            </a:r>
            <a:r>
              <a:rPr lang="en-US" dirty="0"/>
              <a:t>it is normal.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Arpita Dutta, Assistant Professor, CSE AI &amp; ML, Techno Main Saltlake, Kolkata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918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6650" y="609600"/>
            <a:ext cx="8307351" cy="56605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Membership Functions :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6833" y="1306287"/>
            <a:ext cx="10528663" cy="473507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Crossover point:</a:t>
            </a:r>
          </a:p>
          <a:p>
            <a:pPr marL="0" indent="0">
              <a:buNone/>
            </a:pPr>
            <a:r>
              <a:rPr lang="en-US" dirty="0" smtClean="0"/>
              <a:t>     A </a:t>
            </a:r>
            <a:r>
              <a:rPr lang="en-US" dirty="0"/>
              <a:t>cross over point in fuzzy set A is the x with </a:t>
            </a:r>
            <a:r>
              <a:rPr lang="en-US" dirty="0" err="1"/>
              <a:t>μ</a:t>
            </a:r>
            <a:r>
              <a:rPr lang="en-US" sz="1050" dirty="0" err="1"/>
              <a:t>A</a:t>
            </a:r>
            <a:r>
              <a:rPr lang="en-US" dirty="0"/>
              <a:t>(x) </a:t>
            </a:r>
            <a:r>
              <a:rPr lang="en-US" dirty="0" smtClean="0"/>
              <a:t>= 0.5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</a:t>
            </a:r>
            <a:r>
              <a:rPr lang="pt-BR" dirty="0"/>
              <a:t>C</a:t>
            </a:r>
            <a:r>
              <a:rPr lang="pt-BR" dirty="0" smtClean="0"/>
              <a:t>rossover </a:t>
            </a:r>
            <a:r>
              <a:rPr lang="pt-BR" dirty="0"/>
              <a:t>(A)= {x| </a:t>
            </a:r>
            <a:r>
              <a:rPr lang="en-US" dirty="0" err="1"/>
              <a:t>μ</a:t>
            </a:r>
            <a:r>
              <a:rPr lang="en-US" sz="1050" dirty="0" err="1"/>
              <a:t>A</a:t>
            </a:r>
            <a:r>
              <a:rPr lang="en-US" dirty="0"/>
              <a:t>(x) </a:t>
            </a:r>
            <a:r>
              <a:rPr lang="pt-BR" dirty="0" smtClean="0"/>
              <a:t>= 0.5}</a:t>
            </a:r>
          </a:p>
          <a:p>
            <a:pPr marL="0" indent="0">
              <a:buNone/>
            </a:pPr>
            <a:endParaRPr lang="pt-BR" dirty="0" smtClean="0"/>
          </a:p>
          <a:p>
            <a:r>
              <a:rPr lang="en-US" b="1" dirty="0"/>
              <a:t>Bandwidth:</a:t>
            </a:r>
          </a:p>
          <a:p>
            <a:pPr marL="0" indent="0">
              <a:buNone/>
            </a:pPr>
            <a:r>
              <a:rPr lang="en-US" dirty="0" smtClean="0"/>
              <a:t>     For </a:t>
            </a:r>
            <a:r>
              <a:rPr lang="en-US" dirty="0"/>
              <a:t>a normal &amp; convex fuzzy set</a:t>
            </a:r>
          </a:p>
          <a:p>
            <a:pPr marL="0" indent="0">
              <a:buNone/>
            </a:pPr>
            <a:r>
              <a:rPr lang="en-US" dirty="0" smtClean="0"/>
              <a:t>     Width(A) =|x2 - x1</a:t>
            </a:r>
            <a:r>
              <a:rPr lang="en-US" dirty="0"/>
              <a:t>|, where x2 &amp; x1 are crossover points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r>
              <a:rPr lang="en-US" b="1" dirty="0"/>
              <a:t>F</a:t>
            </a:r>
            <a:r>
              <a:rPr lang="en-US" b="1" dirty="0" smtClean="0"/>
              <a:t>uzzy </a:t>
            </a:r>
            <a:r>
              <a:rPr lang="en-US" b="1" dirty="0"/>
              <a:t>S</a:t>
            </a:r>
            <a:r>
              <a:rPr lang="en-US" b="1" dirty="0" smtClean="0"/>
              <a:t>ingleton</a:t>
            </a:r>
            <a:r>
              <a:rPr lang="en-US" b="1" dirty="0"/>
              <a:t>:</a:t>
            </a:r>
          </a:p>
          <a:p>
            <a:pPr marL="0" indent="0">
              <a:buNone/>
            </a:pPr>
            <a:r>
              <a:rPr lang="en-US" dirty="0" smtClean="0"/>
              <a:t>      A </a:t>
            </a:r>
            <a:r>
              <a:rPr lang="en-US" dirty="0"/>
              <a:t>fuzzy set whose support is a single point in X with </a:t>
            </a:r>
            <a:r>
              <a:rPr lang="en-US" dirty="0" err="1"/>
              <a:t>μ</a:t>
            </a:r>
            <a:r>
              <a:rPr lang="en-US" sz="1050" dirty="0" err="1"/>
              <a:t>A</a:t>
            </a:r>
            <a:r>
              <a:rPr lang="en-US" dirty="0"/>
              <a:t>(x) </a:t>
            </a:r>
            <a:r>
              <a:rPr lang="en-US" dirty="0" smtClean="0"/>
              <a:t>= 1 </a:t>
            </a:r>
            <a:r>
              <a:rPr lang="en-US" dirty="0"/>
              <a:t>is called a fuzzy singleton.</a:t>
            </a:r>
            <a:endParaRPr lang="pt-BR" dirty="0" smtClean="0"/>
          </a:p>
          <a:p>
            <a:pPr marL="0" indent="0">
              <a:buNone/>
            </a:pPr>
            <a:r>
              <a:rPr lang="pt-BR" dirty="0"/>
              <a:t> </a:t>
            </a:r>
            <a:r>
              <a:rPr lang="pt-BR" dirty="0" smtClean="0"/>
              <a:t>   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Arpita Dutta, Assistant Professor, CSE AI &amp; ML, Techno Main Saltlake, Kolkata</a:t>
            </a: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354" y="1306287"/>
            <a:ext cx="5013646" cy="3487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3217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023" y="609600"/>
            <a:ext cx="10215153" cy="50074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Fuzzy to Crisp conversions: </a:t>
            </a:r>
            <a:r>
              <a:rPr lang="en-US" dirty="0" smtClean="0"/>
              <a:t>Cuts </a:t>
            </a:r>
            <a:r>
              <a:rPr lang="en-US" dirty="0"/>
              <a:t>for </a:t>
            </a:r>
            <a:r>
              <a:rPr lang="en-US" dirty="0" smtClean="0"/>
              <a:t>fuzzy sets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8903" y="1572648"/>
            <a:ext cx="9849394" cy="2176392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Arpita Dutta, Assistant Professor, CSE AI &amp; ML, Techno Main Saltlake, Kolkata</a:t>
            </a:r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4498728"/>
            <a:ext cx="3605348" cy="14056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7334" y="4663440"/>
            <a:ext cx="5592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So, now support and core can be defined as =&gt;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8602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1"/>
            <a:ext cx="8596668" cy="657496"/>
          </a:xfrm>
        </p:spPr>
        <p:txBody>
          <a:bodyPr>
            <a:normAutofit/>
          </a:bodyPr>
          <a:lstStyle/>
          <a:p>
            <a:pPr algn="ctr"/>
            <a:r>
              <a:rPr lang="en-US" dirty="0" smtClean="0"/>
              <a:t>Properties of Fuzzy Sets : Convexity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2577" y="1267097"/>
            <a:ext cx="10258154" cy="1660352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Arpita Dutta, Assistant Professor, CSE AI &amp; ML, Techno Main Saltlake, Kolkata</a:t>
            </a:r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867" y="3205893"/>
            <a:ext cx="8608402" cy="298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6782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210" y="609600"/>
            <a:ext cx="8398791" cy="722811"/>
          </a:xfrm>
        </p:spPr>
        <p:txBody>
          <a:bodyPr/>
          <a:lstStyle/>
          <a:p>
            <a:pPr algn="ctr"/>
            <a:r>
              <a:rPr lang="en-US" dirty="0"/>
              <a:t>Properties of Fuzzy Sets : </a:t>
            </a:r>
            <a:r>
              <a:rPr lang="en-US" dirty="0" smtClean="0"/>
              <a:t>Symmetry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67543"/>
            <a:ext cx="11144552" cy="4473819"/>
          </a:xfrm>
        </p:spPr>
        <p:txBody>
          <a:bodyPr>
            <a:normAutofit/>
          </a:bodyPr>
          <a:lstStyle/>
          <a:p>
            <a:r>
              <a:rPr lang="en-US" sz="2800" b="1" dirty="0"/>
              <a:t>Symmetry:</a:t>
            </a:r>
          </a:p>
          <a:p>
            <a:pPr marL="0" indent="0">
              <a:buNone/>
            </a:pPr>
            <a:r>
              <a:rPr lang="en-US" sz="2800" dirty="0" smtClean="0"/>
              <a:t>      A </a:t>
            </a:r>
            <a:r>
              <a:rPr lang="en-US" sz="2800" dirty="0"/>
              <a:t>fuzzy set is symmetric if its </a:t>
            </a:r>
            <a:r>
              <a:rPr lang="en-US" sz="2800" dirty="0" smtClean="0"/>
              <a:t>Membership Function </a:t>
            </a:r>
            <a:r>
              <a:rPr lang="en-US" sz="2800" dirty="0"/>
              <a:t>is symmetric about a certain point </a:t>
            </a:r>
            <a:r>
              <a:rPr lang="en-US" sz="2800" dirty="0" smtClean="0"/>
              <a:t>x = c </a:t>
            </a:r>
            <a:r>
              <a:rPr lang="en-US" sz="2800" dirty="0"/>
              <a:t>such that,</a:t>
            </a:r>
          </a:p>
          <a:p>
            <a:pPr marL="0" indent="0">
              <a:buNone/>
            </a:pPr>
            <a:r>
              <a:rPr lang="en-US" sz="2800" dirty="0" smtClean="0"/>
              <a:t>      </a:t>
            </a:r>
            <a:r>
              <a:rPr lang="en-US" sz="2800" dirty="0" err="1" smtClean="0"/>
              <a:t>μ</a:t>
            </a:r>
            <a:r>
              <a:rPr lang="en-US" sz="1400" dirty="0" err="1" smtClean="0"/>
              <a:t>A</a:t>
            </a:r>
            <a:r>
              <a:rPr lang="en-US" sz="2800" dirty="0" smtClean="0"/>
              <a:t>(</a:t>
            </a:r>
            <a:r>
              <a:rPr lang="en-US" sz="2800" dirty="0" err="1" smtClean="0"/>
              <a:t>c+x</a:t>
            </a:r>
            <a:r>
              <a:rPr lang="en-US" sz="2800" dirty="0" smtClean="0"/>
              <a:t>) = </a:t>
            </a:r>
            <a:r>
              <a:rPr lang="en-US" sz="2800" dirty="0" err="1" smtClean="0"/>
              <a:t>μ</a:t>
            </a:r>
            <a:r>
              <a:rPr lang="en-US" sz="1400" dirty="0" err="1" smtClean="0"/>
              <a:t>A</a:t>
            </a:r>
            <a:r>
              <a:rPr lang="en-US" sz="2800" dirty="0" smtClean="0"/>
              <a:t>(c-x</a:t>
            </a:r>
            <a:r>
              <a:rPr lang="en-US" sz="2800" dirty="0"/>
              <a:t>) for all x in X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Arpita Dutta, Assistant Professor, CSE AI &amp; ML, Techno Main Saltlake, Kolkata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1400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10190963" cy="735874"/>
          </a:xfrm>
        </p:spPr>
        <p:txBody>
          <a:bodyPr>
            <a:normAutofit/>
          </a:bodyPr>
          <a:lstStyle/>
          <a:p>
            <a:r>
              <a:rPr lang="en-US" dirty="0" smtClean="0"/>
              <a:t>Membership Functions : Forms and Boundaries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8590" y="2404941"/>
            <a:ext cx="8322976" cy="2245436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Arpita Dutta, Assistant Professor, CSE AI &amp; ML, Techno Main Saltlake, Kolkata</a:t>
            </a: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77333" y="1345474"/>
            <a:ext cx="82184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1. Triangular </a:t>
            </a:r>
            <a:endParaRPr lang="en-US" sz="2800" dirty="0"/>
          </a:p>
        </p:txBody>
      </p:sp>
      <p:sp>
        <p:nvSpPr>
          <p:cNvPr id="7" name="TextBox 6"/>
          <p:cNvSpPr txBox="1"/>
          <p:nvPr/>
        </p:nvSpPr>
        <p:spPr>
          <a:xfrm>
            <a:off x="938590" y="4976949"/>
            <a:ext cx="92243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Where a&lt;b&lt;c &amp; that are x coordinates of the corners of triangular </a:t>
            </a:r>
            <a:r>
              <a:rPr lang="en-US" sz="2000" dirty="0" smtClean="0"/>
              <a:t>Membership Function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133001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10373843" cy="657497"/>
          </a:xfrm>
        </p:spPr>
        <p:txBody>
          <a:bodyPr/>
          <a:lstStyle/>
          <a:p>
            <a:r>
              <a:rPr lang="en-US" dirty="0"/>
              <a:t>Membership Functions : Forms and Boundaries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8285" y="2476603"/>
            <a:ext cx="6319245" cy="2270940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Arpita Dutta, Assistant Professor, CSE AI &amp; ML, Techno Main Saltlake, Kolkata</a:t>
            </a: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901337" y="1619794"/>
            <a:ext cx="663593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2. Trapezoidal </a:t>
            </a:r>
            <a:endParaRPr lang="en-US" sz="2800" dirty="0"/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901337" y="5042263"/>
            <a:ext cx="9940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Where a&lt;b&lt;c&lt;d &amp; that are x coordinates of the corners of trapezoidal </a:t>
            </a:r>
            <a:r>
              <a:rPr lang="en-US" dirty="0" smtClean="0"/>
              <a:t>Membership Function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79162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10190963" cy="748937"/>
          </a:xfrm>
        </p:spPr>
        <p:txBody>
          <a:bodyPr/>
          <a:lstStyle/>
          <a:p>
            <a:r>
              <a:rPr lang="en-US" dirty="0"/>
              <a:t>Membership Functions : Forms and Boundaries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0708" y="1358537"/>
            <a:ext cx="10267406" cy="4493623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 smtClean="0"/>
              <a:t>3.  Generalized </a:t>
            </a:r>
            <a:r>
              <a:rPr lang="en-US" sz="2800" dirty="0"/>
              <a:t>Bell </a:t>
            </a:r>
          </a:p>
          <a:p>
            <a:r>
              <a:rPr lang="en-US" dirty="0"/>
              <a:t>Where c is the </a:t>
            </a:r>
            <a:r>
              <a:rPr lang="en-US" dirty="0" smtClean="0"/>
              <a:t>Centre and </a:t>
            </a:r>
            <a:r>
              <a:rPr lang="en-US" dirty="0"/>
              <a:t>a is adjusted to vary the width of </a:t>
            </a:r>
            <a:r>
              <a:rPr lang="en-US" dirty="0" smtClean="0"/>
              <a:t>Membership Function, </a:t>
            </a:r>
            <a:r>
              <a:rPr lang="en-US" dirty="0"/>
              <a:t>b controls slope at </a:t>
            </a:r>
            <a:r>
              <a:rPr lang="en-US" dirty="0" smtClean="0"/>
              <a:t>crossover points</a:t>
            </a:r>
            <a:r>
              <a:rPr lang="en-US" dirty="0"/>
              <a:t>.</a:t>
            </a:r>
          </a:p>
          <a:p>
            <a:r>
              <a:rPr lang="en-US" dirty="0"/>
              <a:t>Bell membership function is also termed as Cauchy </a:t>
            </a:r>
            <a:r>
              <a:rPr lang="en-US" dirty="0" smtClean="0"/>
              <a:t>Membership Function.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Arpita Dutta, Assistant Professor, CSE AI &amp; ML, Techno Main Saltlake, Kolkata</a:t>
            </a: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3605348"/>
            <a:ext cx="5329646" cy="15344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-378823" y="496388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3189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10687352" cy="683623"/>
          </a:xfrm>
        </p:spPr>
        <p:txBody>
          <a:bodyPr/>
          <a:lstStyle/>
          <a:p>
            <a:r>
              <a:rPr lang="en-US" dirty="0"/>
              <a:t>Membership Functions : Forms and Boundaries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49977"/>
            <a:ext cx="10452220" cy="4591385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 smtClean="0"/>
              <a:t>4. </a:t>
            </a:r>
            <a:r>
              <a:rPr lang="en-US" sz="2800" b="1" dirty="0"/>
              <a:t> </a:t>
            </a:r>
            <a:r>
              <a:rPr lang="en-US" sz="2800" b="1" dirty="0" smtClean="0"/>
              <a:t>Gaussian </a:t>
            </a:r>
            <a:endParaRPr lang="en-US" sz="2800" b="1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Arpita Dutta, Assistant Professor, CSE AI &amp; ML, Techno Main Saltlake, Kolkata</a:t>
            </a: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9244" y="2004972"/>
            <a:ext cx="4346242" cy="11693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7334" y="3370039"/>
            <a:ext cx="8479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Where c is the </a:t>
            </a:r>
            <a:r>
              <a:rPr lang="en-US" dirty="0" smtClean="0"/>
              <a:t>Centre and </a:t>
            </a:r>
            <a:r>
              <a:rPr lang="el-GR" dirty="0" smtClean="0"/>
              <a:t>σ</a:t>
            </a:r>
            <a:r>
              <a:rPr lang="en-US" dirty="0" smtClean="0"/>
              <a:t> </a:t>
            </a:r>
            <a:r>
              <a:rPr lang="en-US" dirty="0"/>
              <a:t>is the width of </a:t>
            </a:r>
            <a:r>
              <a:rPr lang="en-US" dirty="0" smtClean="0"/>
              <a:t>Membership Function.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21237" y="4063658"/>
            <a:ext cx="66098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5. </a:t>
            </a:r>
            <a:r>
              <a:rPr lang="en-US" sz="2800" b="1" dirty="0"/>
              <a:t>Left-Right </a:t>
            </a:r>
            <a:r>
              <a:rPr lang="en-US" sz="2800" b="1" dirty="0" smtClean="0"/>
              <a:t>Membership Function:</a:t>
            </a:r>
            <a:endParaRPr lang="en-US" sz="2800" b="1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1577" y="4753494"/>
            <a:ext cx="5394960" cy="1287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3500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10230152" cy="657497"/>
          </a:xfrm>
        </p:spPr>
        <p:txBody>
          <a:bodyPr/>
          <a:lstStyle/>
          <a:p>
            <a:r>
              <a:rPr lang="en-US" dirty="0"/>
              <a:t>Membership Functions : Forms and Boundaries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0708" y="1371601"/>
            <a:ext cx="10593978" cy="46697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 smtClean="0"/>
              <a:t> Sigmoidal Membership Function: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Dr. </a:t>
            </a:r>
            <a:r>
              <a:rPr lang="en-US" dirty="0" err="1" smtClean="0"/>
              <a:t>Arpita</a:t>
            </a:r>
            <a:r>
              <a:rPr lang="en-US" dirty="0" smtClean="0"/>
              <a:t> Dutta, Assistant Professor, CSE AI &amp; ML, Techno Main </a:t>
            </a:r>
            <a:r>
              <a:rPr lang="en-US" dirty="0" err="1" smtClean="0"/>
              <a:t>Saltlake</a:t>
            </a:r>
            <a:r>
              <a:rPr lang="en-US" dirty="0" smtClean="0"/>
              <a:t>, Kolkata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334" y="2303911"/>
            <a:ext cx="9479307" cy="24916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02674" y="5212080"/>
            <a:ext cx="9104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 can be open left or open right depending on sign of a.</a:t>
            </a:r>
          </a:p>
        </p:txBody>
      </p:sp>
    </p:spTree>
    <p:extLst>
      <p:ext uri="{BB962C8B-B14F-4D97-AF65-F5344CB8AC3E}">
        <p14:creationId xmlns:p14="http://schemas.microsoft.com/office/powerpoint/2010/main" val="9265988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96229"/>
            <a:ext cx="10789920" cy="456382"/>
          </a:xfrm>
        </p:spPr>
        <p:txBody>
          <a:bodyPr>
            <a:normAutofit/>
          </a:bodyPr>
          <a:lstStyle/>
          <a:p>
            <a:pPr algn="ctr"/>
            <a:r>
              <a:rPr lang="en-US" sz="2000" dirty="0"/>
              <a:t>Membership functions </a:t>
            </a:r>
            <a:r>
              <a:rPr lang="en-US" sz="2000" dirty="0" smtClean="0"/>
              <a:t>Plotting</a:t>
            </a: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952611"/>
            <a:ext cx="8596668" cy="5088752"/>
          </a:xfrm>
        </p:spPr>
        <p:txBody>
          <a:bodyPr/>
          <a:lstStyle/>
          <a:p>
            <a:r>
              <a:rPr lang="en-US" dirty="0"/>
              <a:t>Membership functions a. Triangle b. Trapezoidal c. Gaussian d. </a:t>
            </a:r>
            <a:r>
              <a:rPr lang="en-US" dirty="0" smtClean="0"/>
              <a:t>Bell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Arpita Dutta, Assistant Professor, CSE AI &amp; ML, Techno Main Saltlake, Kolkata</a:t>
            </a:r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984" y="1408993"/>
            <a:ext cx="6805748" cy="463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273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518160"/>
            <a:ext cx="8346539" cy="57912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Membership functions Plotting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254035"/>
            <a:ext cx="10817980" cy="47873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smtClean="0"/>
              <a:t>Left and Right Membership Function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Arpita Dutta, Assistant Professor, CSE AI &amp; ML, Techno Main Saltlake, Kolkata</a:t>
            </a: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090057"/>
            <a:ext cx="8307977" cy="3586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8371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776" y="609600"/>
            <a:ext cx="8281225" cy="52686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Fuzzy Set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293223"/>
            <a:ext cx="10230152" cy="4748139"/>
          </a:xfrm>
        </p:spPr>
        <p:txBody>
          <a:bodyPr>
            <a:normAutofit/>
          </a:bodyPr>
          <a:lstStyle/>
          <a:p>
            <a:r>
              <a:rPr lang="en-US" sz="2000" dirty="0"/>
              <a:t>The main features of operation on fuzzy set are that unlike conventional sets, operations </a:t>
            </a:r>
            <a:r>
              <a:rPr lang="en-US" sz="2000" dirty="0" smtClean="0"/>
              <a:t>on fuzzy </a:t>
            </a:r>
            <a:r>
              <a:rPr lang="en-US" sz="2000" dirty="0"/>
              <a:t>sets are usually described with reference to membership </a:t>
            </a:r>
            <a:r>
              <a:rPr lang="en-US" sz="2000" dirty="0" smtClean="0"/>
              <a:t>function. </a:t>
            </a:r>
          </a:p>
          <a:p>
            <a:r>
              <a:rPr lang="en-US" sz="2000" dirty="0" smtClean="0"/>
              <a:t>Operations on fuzzy sets manipulate </a:t>
            </a:r>
            <a:r>
              <a:rPr lang="en-US" sz="2000" dirty="0"/>
              <a:t>the membership of the members in a set; members are not manipulated, rather </a:t>
            </a:r>
            <a:r>
              <a:rPr lang="en-US" sz="2000" dirty="0" smtClean="0"/>
              <a:t>the membership </a:t>
            </a:r>
            <a:r>
              <a:rPr lang="en-US" sz="2000" dirty="0"/>
              <a:t>function of the member is manipulated</a:t>
            </a:r>
            <a:r>
              <a:rPr lang="en-US" sz="2000" dirty="0" smtClean="0"/>
              <a:t>. </a:t>
            </a:r>
          </a:p>
          <a:p>
            <a:r>
              <a:rPr lang="en-US" sz="2000" dirty="0" smtClean="0"/>
              <a:t>However, </a:t>
            </a:r>
            <a:r>
              <a:rPr lang="en-US" sz="2000" dirty="0"/>
              <a:t>i</a:t>
            </a:r>
            <a:r>
              <a:rPr lang="en-US" sz="2000" dirty="0" smtClean="0"/>
              <a:t>n </a:t>
            </a:r>
            <a:r>
              <a:rPr lang="en-US" sz="2000" dirty="0"/>
              <a:t>classical set what is manipulated is x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Therefore, any </a:t>
            </a:r>
            <a:r>
              <a:rPr lang="en-US" sz="2000" dirty="0"/>
              <a:t>kind of manipulation in fuzzy set </a:t>
            </a:r>
            <a:r>
              <a:rPr lang="en-US" sz="2000" dirty="0" smtClean="0"/>
              <a:t>does not </a:t>
            </a:r>
            <a:r>
              <a:rPr lang="en-US" sz="2000" dirty="0"/>
              <a:t>involve </a:t>
            </a:r>
            <a:r>
              <a:rPr lang="en-US" sz="2000" dirty="0" smtClean="0"/>
              <a:t>with the element </a:t>
            </a:r>
            <a:r>
              <a:rPr lang="en-US" sz="2000" dirty="0"/>
              <a:t>x; </a:t>
            </a:r>
            <a:r>
              <a:rPr lang="en-US" sz="2000" dirty="0" smtClean="0"/>
              <a:t> rather </a:t>
            </a:r>
            <a:r>
              <a:rPr lang="en-US" sz="2000" dirty="0"/>
              <a:t>it involves </a:t>
            </a:r>
            <a:r>
              <a:rPr lang="en-US" sz="2000" dirty="0" smtClean="0"/>
              <a:t>with its membership function μ(x).</a:t>
            </a:r>
          </a:p>
          <a:p>
            <a:endParaRPr lang="en-US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Arpita Dutta, Assistant Professor, CSE AI &amp; ML, Techno Main Saltlake, Kolkata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3177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274" y="609600"/>
            <a:ext cx="8385728" cy="59218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Fuzzy Set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1463041"/>
            <a:ext cx="11131489" cy="45783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Containment or subset: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Arpita Dutta, Assistant Professor, CSE AI &amp; ML, Techno Main Saltlake, Kolkata</a:t>
            </a: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274" y="2168434"/>
            <a:ext cx="10241280" cy="8882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4448" y="3317967"/>
            <a:ext cx="6579554" cy="7949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0709" y="4467498"/>
            <a:ext cx="1047641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Three common </a:t>
            </a:r>
            <a:r>
              <a:rPr lang="en-US" sz="2400" dirty="0" smtClean="0"/>
              <a:t>fuzzy set operations</a:t>
            </a:r>
            <a:r>
              <a:rPr lang="en-US" sz="2400" dirty="0"/>
              <a:t>: </a:t>
            </a:r>
            <a:endParaRPr lang="en-US" sz="2400" dirty="0" smtClean="0"/>
          </a:p>
          <a:p>
            <a:r>
              <a:rPr lang="en-US" sz="2400" dirty="0" smtClean="0"/>
              <a:t>(1) Intersection (Minimum function) </a:t>
            </a:r>
          </a:p>
          <a:p>
            <a:r>
              <a:rPr lang="en-US" sz="2400" dirty="0" smtClean="0"/>
              <a:t>(2) Union</a:t>
            </a:r>
            <a:r>
              <a:rPr lang="en-US" sz="2400" dirty="0"/>
              <a:t>, </a:t>
            </a:r>
            <a:r>
              <a:rPr lang="en-US" sz="2400" dirty="0" smtClean="0"/>
              <a:t>(Maximum function)</a:t>
            </a:r>
          </a:p>
          <a:p>
            <a:r>
              <a:rPr lang="en-US" sz="2400" dirty="0" smtClean="0"/>
              <a:t>(3) Fuzzy </a:t>
            </a:r>
            <a:r>
              <a:rPr lang="en-US" sz="2400" dirty="0"/>
              <a:t>C</a:t>
            </a:r>
            <a:r>
              <a:rPr lang="en-US" sz="2400" dirty="0" smtClean="0"/>
              <a:t>omplementation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26353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10034209" cy="47461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Fuzzy Set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5210" y="1463041"/>
            <a:ext cx="10685419" cy="4578322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Intersection (</a:t>
            </a:r>
            <a:r>
              <a:rPr lang="en-US" sz="2400" b="1" dirty="0"/>
              <a:t>Conjunction</a:t>
            </a:r>
            <a:r>
              <a:rPr lang="en-US" sz="2400" b="1" dirty="0" smtClean="0"/>
              <a:t>) or </a:t>
            </a:r>
            <a:r>
              <a:rPr lang="en-US" sz="2400" b="1" dirty="0"/>
              <a:t>T-norm</a:t>
            </a:r>
            <a:r>
              <a:rPr lang="en-US" sz="2400" b="1" dirty="0" smtClean="0"/>
              <a:t>:</a:t>
            </a:r>
          </a:p>
          <a:p>
            <a:r>
              <a:rPr lang="en-US" dirty="0" smtClean="0"/>
              <a:t>There are </a:t>
            </a:r>
            <a:r>
              <a:rPr lang="en-US" dirty="0"/>
              <a:t>2 sets. One is set A and </a:t>
            </a:r>
            <a:r>
              <a:rPr lang="en-US" dirty="0" smtClean="0"/>
              <a:t>the other </a:t>
            </a:r>
            <a:r>
              <a:rPr lang="en-US" dirty="0"/>
              <a:t>is set B. </a:t>
            </a:r>
            <a:r>
              <a:rPr lang="en-US" dirty="0" smtClean="0"/>
              <a:t>Apart from seeing </a:t>
            </a:r>
            <a:r>
              <a:rPr lang="en-US" dirty="0"/>
              <a:t>the common members, </a:t>
            </a:r>
            <a:r>
              <a:rPr lang="en-US" dirty="0" smtClean="0"/>
              <a:t>their membership functions are also observed.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Dr. </a:t>
            </a:r>
            <a:r>
              <a:rPr lang="en-US" dirty="0" err="1" smtClean="0"/>
              <a:t>Arpita</a:t>
            </a:r>
            <a:r>
              <a:rPr lang="en-US" dirty="0" smtClean="0"/>
              <a:t> Dutta, Assistant Professor, CSE AI &amp; ML, Techno Main </a:t>
            </a:r>
            <a:r>
              <a:rPr lang="en-US" dirty="0" err="1" smtClean="0"/>
              <a:t>Saltlake</a:t>
            </a:r>
            <a:r>
              <a:rPr lang="en-US" dirty="0" smtClean="0"/>
              <a:t>, Kolkata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029" y="2838397"/>
            <a:ext cx="5368834" cy="51776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4946" y="3291840"/>
            <a:ext cx="4493394" cy="227312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5210" y="4428404"/>
            <a:ext cx="66608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The membership function is computed minimum; that is, μ</a:t>
            </a:r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(A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∩ </a:t>
            </a:r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B)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is the minimum of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μ</a:t>
            </a:r>
            <a:r>
              <a:rPr lang="en-US" sz="105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(x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μ</a:t>
            </a:r>
            <a:r>
              <a:rPr lang="en-US" sz="1050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(x)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That is the membership function. When there is a common member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between A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and B, the membership function wherever is minimum that is retained and the other one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is thrown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away. The member is retained; what is changing is the membership function.</a:t>
            </a:r>
          </a:p>
        </p:txBody>
      </p:sp>
    </p:spTree>
    <p:extLst>
      <p:ext uri="{BB962C8B-B14F-4D97-AF65-F5344CB8AC3E}">
        <p14:creationId xmlns:p14="http://schemas.microsoft.com/office/powerpoint/2010/main" val="25143276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806300" cy="56605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Fuzzy Set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770" y="1489167"/>
            <a:ext cx="8490231" cy="4552196"/>
          </a:xfrm>
        </p:spPr>
        <p:txBody>
          <a:bodyPr/>
          <a:lstStyle/>
          <a:p>
            <a:r>
              <a:rPr lang="en-US" b="1" dirty="0"/>
              <a:t>Union(Disjunction) or T-co-norm or </a:t>
            </a:r>
            <a:r>
              <a:rPr lang="en-US" b="1" dirty="0" smtClean="0"/>
              <a:t>S-norm :  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Arpita Dutta, Assistant Professor, CSE AI &amp; ML, Techno Main Saltlake, Kolkata</a:t>
            </a:r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468" y="2508808"/>
            <a:ext cx="5116488" cy="56096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8389" y="3383282"/>
            <a:ext cx="5579285" cy="2292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3189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6650" y="609600"/>
            <a:ext cx="8307351" cy="55299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Fuzzy Set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2148" y="1371601"/>
            <a:ext cx="8411853" cy="4669762"/>
          </a:xfrm>
        </p:spPr>
        <p:txBody>
          <a:bodyPr>
            <a:normAutofit/>
          </a:bodyPr>
          <a:lstStyle/>
          <a:p>
            <a:r>
              <a:rPr lang="en-US" sz="2000" b="1" dirty="0" smtClean="0"/>
              <a:t>Complement (</a:t>
            </a:r>
            <a:r>
              <a:rPr lang="en-US" sz="2000" b="1" dirty="0"/>
              <a:t>Negation</a:t>
            </a:r>
            <a:r>
              <a:rPr lang="en-US" sz="2000" b="1" dirty="0" smtClean="0"/>
              <a:t>) :</a:t>
            </a:r>
            <a:endParaRPr lang="en-US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Arpita Dutta, Assistant Professor, CSE AI &amp; ML, Techno Main Saltlake, Kolkata</a:t>
            </a: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8616" y="2287567"/>
            <a:ext cx="2495005" cy="44257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325" y="2508852"/>
            <a:ext cx="5277394" cy="2571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8622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6650" y="609600"/>
            <a:ext cx="8307351" cy="55299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Formal definition in Fuzzy Set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0708" y="1306287"/>
            <a:ext cx="10672355" cy="4735075"/>
          </a:xfrm>
        </p:spPr>
        <p:txBody>
          <a:bodyPr/>
          <a:lstStyle/>
          <a:p>
            <a:r>
              <a:rPr lang="en-US" dirty="0" smtClean="0"/>
              <a:t>EMPTY SET :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A </a:t>
            </a:r>
            <a:r>
              <a:rPr lang="en-US" dirty="0"/>
              <a:t>is EMPTY </a:t>
            </a:r>
            <a:r>
              <a:rPr lang="en-US" dirty="0" smtClean="0"/>
              <a:t> </a:t>
            </a:r>
            <a:r>
              <a:rPr lang="en-US" dirty="0" err="1" smtClean="0"/>
              <a:t>iff</a:t>
            </a:r>
            <a:r>
              <a:rPr lang="en-US" dirty="0" smtClean="0"/>
              <a:t> </a:t>
            </a:r>
            <a:r>
              <a:rPr lang="en-US" dirty="0"/>
              <a:t>for all x, </a:t>
            </a:r>
            <a:r>
              <a:rPr lang="en-US" dirty="0" err="1"/>
              <a:t>μ</a:t>
            </a:r>
            <a:r>
              <a:rPr lang="en-US" sz="1100" dirty="0" err="1"/>
              <a:t>A</a:t>
            </a:r>
            <a:r>
              <a:rPr lang="en-US" dirty="0"/>
              <a:t>(x) = 0.0</a:t>
            </a:r>
            <a:r>
              <a:rPr lang="en-US" dirty="0" smtClean="0"/>
              <a:t>.</a:t>
            </a:r>
          </a:p>
          <a:p>
            <a:r>
              <a:rPr lang="en-US" dirty="0" smtClean="0"/>
              <a:t>Equal Set :</a:t>
            </a:r>
          </a:p>
          <a:p>
            <a:pPr marL="0" indent="0">
              <a:buNone/>
            </a:pPr>
            <a:r>
              <a:rPr lang="en-US" dirty="0" smtClean="0"/>
              <a:t>     A </a:t>
            </a:r>
            <a:r>
              <a:rPr lang="en-US" dirty="0"/>
              <a:t>= B </a:t>
            </a:r>
            <a:r>
              <a:rPr lang="en-US" dirty="0" err="1"/>
              <a:t>iff</a:t>
            </a:r>
            <a:r>
              <a:rPr lang="en-US" dirty="0"/>
              <a:t> for all x: </a:t>
            </a:r>
            <a:r>
              <a:rPr lang="en-US" dirty="0" err="1"/>
              <a:t>μ</a:t>
            </a:r>
            <a:r>
              <a:rPr lang="en-US" sz="1100" dirty="0" err="1"/>
              <a:t>A</a:t>
            </a:r>
            <a:r>
              <a:rPr lang="en-US" dirty="0"/>
              <a:t>(x) = </a:t>
            </a:r>
            <a:r>
              <a:rPr lang="en-US" dirty="0" err="1"/>
              <a:t>μ</a:t>
            </a:r>
            <a:r>
              <a:rPr lang="en-US" sz="1050" dirty="0" err="1"/>
              <a:t>B</a:t>
            </a:r>
            <a:r>
              <a:rPr lang="en-US" dirty="0"/>
              <a:t>(x) [or, </a:t>
            </a:r>
            <a:r>
              <a:rPr lang="en-US" dirty="0" err="1"/>
              <a:t>μ</a:t>
            </a:r>
            <a:r>
              <a:rPr lang="en-US" sz="1050" dirty="0" err="1"/>
              <a:t>A</a:t>
            </a:r>
            <a:r>
              <a:rPr lang="en-US" dirty="0"/>
              <a:t> = </a:t>
            </a:r>
            <a:r>
              <a:rPr lang="en-US" dirty="0" err="1"/>
              <a:t>μ</a:t>
            </a:r>
            <a:r>
              <a:rPr lang="en-US" sz="1050" dirty="0" err="1"/>
              <a:t>B</a:t>
            </a:r>
            <a:r>
              <a:rPr lang="en-US" dirty="0" smtClean="0"/>
              <a:t>].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Degree (Grade) of membership :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A </a:t>
            </a:r>
            <a:r>
              <a:rPr lang="en-US" dirty="0"/>
              <a:t>fuzzy set A in X is characterized by a membership </a:t>
            </a:r>
            <a:r>
              <a:rPr lang="en-US" dirty="0" smtClean="0"/>
              <a:t>function m</a:t>
            </a:r>
            <a:r>
              <a:rPr lang="en-US" sz="1100" dirty="0" smtClean="0"/>
              <a:t>A</a:t>
            </a:r>
            <a:r>
              <a:rPr lang="en-US" dirty="0" smtClean="0"/>
              <a:t>(x</a:t>
            </a:r>
            <a:r>
              <a:rPr lang="en-US" dirty="0"/>
              <a:t>) which maps each point in X </a:t>
            </a:r>
            <a:r>
              <a:rPr lang="en-US" dirty="0" smtClean="0"/>
              <a:t>      onto </a:t>
            </a:r>
            <a:r>
              <a:rPr lang="en-US" dirty="0"/>
              <a:t>the real interval [0.0, 1.0]. </a:t>
            </a:r>
            <a:r>
              <a:rPr lang="en-US" dirty="0" smtClean="0"/>
              <a:t>As m</a:t>
            </a:r>
            <a:r>
              <a:rPr lang="en-US" sz="1050" dirty="0" smtClean="0"/>
              <a:t>A</a:t>
            </a:r>
            <a:r>
              <a:rPr lang="en-US" dirty="0" smtClean="0"/>
              <a:t>(x</a:t>
            </a:r>
            <a:r>
              <a:rPr lang="en-US" dirty="0"/>
              <a:t>) approaches 1.0, the "grade of membership" of x in A increases.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Arpita Dutta, Assistant Professor, CSE AI &amp; ML, Techno Main Saltlake, Kolkata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57278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893</TotalTime>
  <Words>1915</Words>
  <Application>Microsoft Office PowerPoint</Application>
  <PresentationFormat>Widescreen</PresentationFormat>
  <Paragraphs>139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Times New Roman</vt:lpstr>
      <vt:lpstr>Trebuchet MS</vt:lpstr>
      <vt:lpstr>Wingdings 3</vt:lpstr>
      <vt:lpstr>Facet</vt:lpstr>
      <vt:lpstr>Introduction to Soft Computing</vt:lpstr>
      <vt:lpstr>Soft Computing : Definition</vt:lpstr>
      <vt:lpstr>Fuzzy Logic</vt:lpstr>
      <vt:lpstr>Fuzzy Sets</vt:lpstr>
      <vt:lpstr>Sets: classical &amp; fuzzy boundary</vt:lpstr>
      <vt:lpstr>Membership Function</vt:lpstr>
      <vt:lpstr>Membership Function</vt:lpstr>
      <vt:lpstr>Membership Function</vt:lpstr>
      <vt:lpstr>Membership Functions : Features</vt:lpstr>
      <vt:lpstr>Membership Functions : Features</vt:lpstr>
      <vt:lpstr>Fuzzy to Crisp conversions: Cuts for fuzzy sets</vt:lpstr>
      <vt:lpstr>Properties of Fuzzy Sets : Convexity</vt:lpstr>
      <vt:lpstr>Properties of Fuzzy Sets : Symmetry</vt:lpstr>
      <vt:lpstr>Membership Functions : Forms and Boundaries</vt:lpstr>
      <vt:lpstr>Membership Functions : Forms and Boundaries</vt:lpstr>
      <vt:lpstr>Membership Functions : Forms and Boundaries</vt:lpstr>
      <vt:lpstr>Membership Functions : Forms and Boundaries</vt:lpstr>
      <vt:lpstr>Membership Functions : Forms and Boundaries</vt:lpstr>
      <vt:lpstr>Membership functions Plotting</vt:lpstr>
      <vt:lpstr>Membership functions Plotting</vt:lpstr>
      <vt:lpstr>Fuzzy Set Operations</vt:lpstr>
      <vt:lpstr>Fuzzy Set Operations</vt:lpstr>
      <vt:lpstr>Fuzzy Set Operations</vt:lpstr>
      <vt:lpstr>Fuzzy Set Operations</vt:lpstr>
      <vt:lpstr>Fuzzy Set Operations</vt:lpstr>
      <vt:lpstr>Formal definition in Fuzzy Set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Soft Computing</dc:title>
  <dc:creator>AD</dc:creator>
  <cp:lastModifiedBy>AD</cp:lastModifiedBy>
  <cp:revision>46</cp:revision>
  <dcterms:created xsi:type="dcterms:W3CDTF">2024-01-15T05:23:08Z</dcterms:created>
  <dcterms:modified xsi:type="dcterms:W3CDTF">2024-02-15T09:48:15Z</dcterms:modified>
</cp:coreProperties>
</file>